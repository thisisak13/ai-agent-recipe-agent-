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thisisak13/AI-Agent-Recipe-Age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37991836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600" b="1" u="none" strike="noStrike" cap="none" dirty="0"/>
                        <a:t>Student Name</a:t>
                      </a:r>
                      <a:endParaRPr sz="1600" b="1"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600" b="1" u="none" strike="noStrike" cap="none" dirty="0"/>
                        <a:t>Recent Passport Photo</a:t>
                      </a:r>
                      <a:endParaRPr sz="1600" b="1"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b="1" i="0" u="none" strike="noStrike" cap="none" dirty="0">
                          <a:solidFill>
                            <a:srgbClr val="000000"/>
                          </a:solidFill>
                          <a:latin typeface="Arial"/>
                          <a:ea typeface="Calibri"/>
                          <a:cs typeface="Arial"/>
                          <a:sym typeface="Calibri"/>
                        </a:rPr>
                        <a:t>Email ID </a:t>
                      </a:r>
                      <a:endParaRPr sz="1600" b="1"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600" b="1" i="0" u="none" strike="noStrike" cap="none" dirty="0">
                          <a:solidFill>
                            <a:srgbClr val="000000"/>
                          </a:solidFill>
                          <a:latin typeface="Arial"/>
                          <a:ea typeface="Calibri"/>
                          <a:cs typeface="Arial"/>
                          <a:sym typeface="Calibri"/>
                        </a:rPr>
                        <a:t>Mobile number</a:t>
                      </a:r>
                      <a:endParaRPr sz="1600" b="1"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600" b="1" i="0" u="none" strike="noStrike" cap="none" dirty="0">
                          <a:solidFill>
                            <a:srgbClr val="000000"/>
                          </a:solidFill>
                          <a:latin typeface="Arial"/>
                          <a:ea typeface="Calibri"/>
                          <a:cs typeface="Arial"/>
                          <a:sym typeface="Calibri"/>
                        </a:rPr>
                        <a:t>[WhatsApp] </a:t>
                      </a:r>
                      <a:endParaRPr sz="1600" b="1"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sz="1600" b="1" dirty="0"/>
                        <a:t>Azim Khan </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600" b="1"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600" b="1" dirty="0"/>
                        <a:t>aahil1458@gmail.com</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600" b="1" dirty="0"/>
                        <a:t>9657827076</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53024" y="3758072"/>
            <a:ext cx="762500" cy="762500"/>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Food Technology / Smart Cooking / Consumer AI</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Recipe Agent </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754874"/>
          </a:xfrm>
          <a:prstGeom prst="rect">
            <a:avLst/>
          </a:prstGeom>
          <a:noFill/>
        </p:spPr>
        <p:txBody>
          <a:bodyPr wrap="square" rtlCol="0">
            <a:spAutoFit/>
          </a:bodyPr>
          <a:lstStyle/>
          <a:p>
            <a:pPr fontAlgn="base"/>
            <a:r>
              <a:rPr lang="en-US" b="1" dirty="0"/>
              <a:t>Problem Statement : Recipe Preparation Agent</a:t>
            </a:r>
            <a:r>
              <a:rPr lang="en-US" dirty="0"/>
              <a:t> </a:t>
            </a:r>
          </a:p>
          <a:p>
            <a:pPr fontAlgn="base"/>
            <a:endParaRPr lang="en-US" b="1" dirty="0"/>
          </a:p>
          <a:p>
            <a:pPr fontAlgn="base"/>
            <a:r>
              <a:rPr lang="en-US" b="1" dirty="0"/>
              <a:t>The Challenge</a:t>
            </a:r>
            <a:r>
              <a:rPr lang="en-US" dirty="0"/>
              <a:t> </a:t>
            </a:r>
          </a:p>
          <a:p>
            <a:pPr fontAlgn="base"/>
            <a:r>
              <a:rPr lang="en-IN" dirty="0"/>
              <a:t>Cooking becomes difficult when users only have limited ingredients at home. People often struggle to decide what to cook, leading to repetitive meals and food waste. Reliable recipe guidance is scattered, and most systems do not adapt to available groceries or dietary needs. Without intelligent assistance, users cannot efficiently turn pantry items into complete meals.</a:t>
            </a:r>
          </a:p>
          <a:p>
            <a:pPr fontAlgn="base"/>
            <a:endParaRPr lang="en-US" dirty="0"/>
          </a:p>
          <a:p>
            <a:pPr fontAlgn="base"/>
            <a:r>
              <a:rPr lang="en-US" b="1" dirty="0"/>
              <a:t>The Objective</a:t>
            </a:r>
            <a:r>
              <a:rPr lang="en-US" dirty="0"/>
              <a:t> </a:t>
            </a:r>
          </a:p>
          <a:p>
            <a:pPr fontAlgn="base"/>
            <a:r>
              <a:rPr lang="en-US" dirty="0"/>
              <a:t>Build an </a:t>
            </a:r>
            <a:r>
              <a:rPr lang="en-US" b="1" dirty="0"/>
              <a:t>AI-powered Recipe Preparation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IN" dirty="0"/>
              <a:t>Build an AI-powered Recipe Preparation Agent using IBM Granite (RAG-based system)</a:t>
            </a:r>
          </a:p>
          <a:p>
            <a:pPr marL="285750" indent="-285750" fontAlgn="base">
              <a:buFont typeface="Arial" panose="020B0604020202020204" pitchFamily="34" charset="0"/>
              <a:buChar char="•"/>
            </a:pPr>
            <a:r>
              <a:rPr lang="en-IN" dirty="0"/>
              <a:t> Generate personalized recipes based on available ingredients and user preferences </a:t>
            </a:r>
          </a:p>
          <a:p>
            <a:pPr marL="285750" indent="-285750" fontAlgn="base">
              <a:buFont typeface="Arial" panose="020B0604020202020204" pitchFamily="34" charset="0"/>
              <a:buChar char="•"/>
            </a:pPr>
            <a:r>
              <a:rPr lang="en-IN" dirty="0"/>
              <a:t>Provide step-by-step cooking instructions with cooking time and ingredients list </a:t>
            </a:r>
          </a:p>
          <a:p>
            <a:pPr marL="285750" indent="-285750" fontAlgn="base">
              <a:buFont typeface="Arial" panose="020B0604020202020204" pitchFamily="34" charset="0"/>
              <a:buChar char="•"/>
            </a:pPr>
            <a:r>
              <a:rPr lang="en-IN" dirty="0"/>
              <a:t>Suggest smart ingredient substitutions when items are missing Adapt recipes based on cuisine type and dietary needs (Veg/Vegan/Non-Veg) </a:t>
            </a:r>
          </a:p>
          <a:p>
            <a:pPr marL="285750" indent="-285750" fontAlgn="base">
              <a:buFont typeface="Arial" panose="020B0604020202020204" pitchFamily="34" charset="0"/>
              <a:buChar char="•"/>
            </a:pPr>
            <a:r>
              <a:rPr lang="en-IN" dirty="0"/>
              <a:t>Reduce food waste and simplify everyday cooking</a:t>
            </a: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1600438"/>
          </a:xfrm>
          <a:prstGeom prst="rect">
            <a:avLst/>
          </a:prstGeom>
          <a:noFill/>
        </p:spPr>
        <p:txBody>
          <a:bodyPr wrap="square" rtlCol="0">
            <a:spAutoFit/>
          </a:bodyPr>
          <a:lstStyle/>
          <a:p>
            <a:pPr>
              <a:buNone/>
            </a:pPr>
            <a:r>
              <a:rPr lang="en-IN" b="1" dirty="0"/>
              <a:t>Tech Stack (Mandatory)</a:t>
            </a:r>
          </a:p>
          <a:p>
            <a:pPr>
              <a:buFont typeface="Arial" panose="020B0604020202020204" pitchFamily="34" charset="0"/>
              <a:buChar char="•"/>
            </a:pPr>
            <a:r>
              <a:rPr lang="en-IN" dirty="0" err="1"/>
              <a:t>LangFlow</a:t>
            </a:r>
            <a:r>
              <a:rPr lang="en-IN" dirty="0"/>
              <a:t> for building and orchestrating the workflow (visual AI pipeline) </a:t>
            </a:r>
          </a:p>
          <a:p>
            <a:pPr>
              <a:buFont typeface="Arial" panose="020B0604020202020204" pitchFamily="34" charset="0"/>
              <a:buChar char="•"/>
            </a:pPr>
            <a:r>
              <a:rPr lang="en-IN" dirty="0"/>
              <a:t>IBM watsonx.ai for accessing and deploying foundation models </a:t>
            </a:r>
          </a:p>
          <a:p>
            <a:pPr>
              <a:buFont typeface="Arial" panose="020B0604020202020204" pitchFamily="34" charset="0"/>
              <a:buChar char="•"/>
            </a:pPr>
            <a:r>
              <a:rPr lang="en-IN" dirty="0"/>
              <a:t>IBM Granite Models for AI-powered recipe generation and response creation </a:t>
            </a:r>
          </a:p>
          <a:p>
            <a:pPr>
              <a:buFont typeface="Arial" panose="020B0604020202020204" pitchFamily="34" charset="0"/>
              <a:buChar char="•"/>
            </a:pPr>
            <a:r>
              <a:rPr lang="en-IN" dirty="0"/>
              <a:t>RAG (Retrieval-Augmented Generation) for fetching and enhancing recipe knowledge </a:t>
            </a:r>
          </a:p>
          <a:p>
            <a:pPr>
              <a:buFont typeface="Arial" panose="020B0604020202020204" pitchFamily="34" charset="0"/>
              <a:buChar char="•"/>
            </a:pPr>
            <a:r>
              <a:rPr lang="en-IN" dirty="0"/>
              <a:t>Python for backend logic and integration </a:t>
            </a:r>
          </a:p>
          <a:p>
            <a:pPr>
              <a:buFont typeface="Arial" panose="020B0604020202020204" pitchFamily="34" charset="0"/>
              <a:buChar char="•"/>
            </a:pPr>
            <a:r>
              <a:rPr lang="en-IN" dirty="0" err="1"/>
              <a:t>Streamlit</a:t>
            </a:r>
            <a:r>
              <a:rPr lang="en-IN" dirty="0"/>
              <a:t> for building the user interface</a:t>
            </a:r>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01205"/>
          </a:xfrm>
          <a:prstGeom prst="rect">
            <a:avLst/>
          </a:prstGeom>
          <a:noFill/>
        </p:spPr>
        <p:txBody>
          <a:bodyPr wrap="square" rtlCol="0">
            <a:spAutoFit/>
          </a:bodyPr>
          <a:lstStyle/>
          <a:p>
            <a:r>
              <a:rPr lang="en-IN" b="1" dirty="0"/>
              <a:t>Proposed Solution: AI-Powered Recipe Preparation Agent</a:t>
            </a:r>
          </a:p>
          <a:p>
            <a:r>
              <a:rPr lang="en-IN" dirty="0"/>
              <a:t>The proposed solution is a multi-agent AI-powered Recipe Preparation Agent built using </a:t>
            </a:r>
            <a:r>
              <a:rPr lang="en-IN" b="1" dirty="0" err="1"/>
              <a:t>LangFlow</a:t>
            </a:r>
            <a:r>
              <a:rPr lang="en-IN" b="1" dirty="0"/>
              <a:t>, IBM watsonx.ai, and Granite Models</a:t>
            </a:r>
            <a:r>
              <a:rPr lang="en-IN" dirty="0"/>
              <a:t> to help users cook meals using only the ingredients available at home. The system addresses challenges in meal planning, ingredient limitations, and food waste through an intelligent, modular architecture.</a:t>
            </a:r>
          </a:p>
          <a:p>
            <a:r>
              <a:rPr lang="en-IN" dirty="0"/>
              <a:t>At its core, the solution uses a </a:t>
            </a:r>
            <a:r>
              <a:rPr lang="en-IN" b="1" dirty="0"/>
              <a:t>Retrieval-Augmented Generation (RAG) pipeline</a:t>
            </a:r>
            <a:r>
              <a:rPr lang="en-IN" dirty="0"/>
              <a:t> to fetch relevant recipes from a structured recipe dataset and trusted food knowledge sources. This retrieved context is then processed and enhanced using </a:t>
            </a:r>
            <a:r>
              <a:rPr lang="en-IN" b="1" dirty="0"/>
              <a:t>IBM Granite models</a:t>
            </a:r>
            <a:r>
              <a:rPr lang="en-IN" dirty="0"/>
              <a:t> to generate personalized, step-by-step cooking instructions based on user inputs.</a:t>
            </a:r>
          </a:p>
          <a:p>
            <a:r>
              <a:rPr lang="en-IN" dirty="0"/>
              <a:t>The system consists of four key agents:</a:t>
            </a:r>
          </a:p>
          <a:p>
            <a:r>
              <a:rPr lang="en-IN" b="1" dirty="0"/>
              <a:t>Recipe Knowledge Agent</a:t>
            </a:r>
            <a:r>
              <a:rPr lang="en-IN" dirty="0"/>
              <a:t> retrieves relevant recipes using RAG and structured food datasets.</a:t>
            </a:r>
          </a:p>
          <a:p>
            <a:r>
              <a:rPr lang="en-IN" b="1" dirty="0"/>
              <a:t>Ingredient Analysis Agent</a:t>
            </a:r>
            <a:r>
              <a:rPr lang="en-IN" dirty="0"/>
              <a:t> identifies available ingredients and determines possible recipes based on them.</a:t>
            </a:r>
          </a:p>
          <a:p>
            <a:r>
              <a:rPr lang="en-IN" b="1" dirty="0"/>
              <a:t>Recipe Adaptation Agent</a:t>
            </a:r>
            <a:r>
              <a:rPr lang="en-IN" dirty="0"/>
              <a:t> modifies recipes based on cuisine type, dietary preferences (Veg/Vegan/Non-Veg), and missing ingredients.</a:t>
            </a:r>
          </a:p>
          <a:p>
            <a:r>
              <a:rPr lang="en-IN" b="1" dirty="0"/>
              <a:t>Cooking Instruction Agent</a:t>
            </a:r>
            <a:r>
              <a:rPr lang="en-IN" dirty="0"/>
              <a:t> generates clear, step-by-step cooking instructions with cooking time and tips.</a:t>
            </a:r>
          </a:p>
          <a:p>
            <a:r>
              <a:rPr lang="en-IN" dirty="0"/>
              <a:t>The solution includes a simple and user-friendly interface (built with </a:t>
            </a:r>
            <a:r>
              <a:rPr lang="en-IN" b="1" dirty="0" err="1"/>
              <a:t>Streamlit</a:t>
            </a:r>
            <a:r>
              <a:rPr lang="en-IN" dirty="0"/>
              <a:t>) where users input available ingredients, cuisine type, and dietary preference. The system then generates complete recipes including ingredients list, substitutions, and cooking steps.</a:t>
            </a:r>
          </a:p>
          <a:p>
            <a:r>
              <a:rPr lang="en-IN" b="1" dirty="0" err="1"/>
              <a:t>LangFlow</a:t>
            </a:r>
            <a:r>
              <a:rPr lang="en-IN" dirty="0"/>
              <a:t> is used to design and orchestrate the workflow, while </a:t>
            </a:r>
            <a:r>
              <a:rPr lang="en-IN" b="1" dirty="0"/>
              <a:t>watsonx.ai</a:t>
            </a:r>
            <a:r>
              <a:rPr lang="en-IN" dirty="0"/>
              <a:t> enables model integration and scalable deployment. </a:t>
            </a:r>
            <a:r>
              <a:rPr lang="en-IN" b="1" dirty="0"/>
              <a:t>Granite models</a:t>
            </a:r>
            <a:r>
              <a:rPr lang="en-IN" dirty="0"/>
              <a:t> power reasoning, recipe generation, and natural language responses. The RAG pipeline ensures accurate and context-aware recipe suggestions.</a:t>
            </a:r>
          </a:p>
          <a:p>
            <a:r>
              <a:rPr lang="en-IN" dirty="0"/>
              <a:t>Overall, this solution delivers an end-to-end intelligent cooking assistant that transforms available groceries into practical meals, reduces food waste, and makes everyday cooking easier and more efficient.</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1484978"/>
            <a:ext cx="5697378" cy="4184301"/>
          </a:xfrm>
          <a:prstGeom prst="rect">
            <a:avLst/>
          </a:prstGeom>
          <a:noFill/>
        </p:spPr>
        <p:txBody>
          <a:bodyPr wrap="square" rtlCol="0">
            <a:spAutoFit/>
          </a:bodyPr>
          <a:lstStyle/>
          <a:p>
            <a:r>
              <a:rPr lang="en-IN" sz="1200" b="1" dirty="0"/>
              <a:t>1) Chat Input</a:t>
            </a:r>
          </a:p>
          <a:p>
            <a:r>
              <a:rPr lang="en-IN" sz="1200" dirty="0"/>
              <a:t>Interface where users provide recipe requirements such as:</a:t>
            </a:r>
          </a:p>
          <a:p>
            <a:r>
              <a:rPr lang="en-IN" sz="1200" dirty="0"/>
              <a:t>Selected cuisine (Indian, Chinese, Italian, etc.) </a:t>
            </a:r>
          </a:p>
          <a:p>
            <a:r>
              <a:rPr lang="en-IN" sz="1200" dirty="0"/>
              <a:t>Diet preference (Vegetarian / Vegan / Non-Vegetarian) </a:t>
            </a:r>
          </a:p>
          <a:p>
            <a:r>
              <a:rPr lang="en-IN" sz="1200" dirty="0"/>
              <a:t>Number of servings </a:t>
            </a:r>
          </a:p>
          <a:p>
            <a:r>
              <a:rPr lang="en-IN" sz="1200" dirty="0"/>
              <a:t>Maximum cooking time </a:t>
            </a:r>
          </a:p>
          <a:p>
            <a:r>
              <a:rPr lang="en-IN" sz="1200" dirty="0"/>
              <a:t>Available ingredients (text input list) </a:t>
            </a:r>
          </a:p>
          <a:p>
            <a:br>
              <a:rPr lang="en-IN" sz="1200" dirty="0"/>
            </a:br>
            <a:endParaRPr lang="en-IN" sz="1200" dirty="0"/>
          </a:p>
          <a:p>
            <a:r>
              <a:rPr lang="en-IN" sz="1200" b="1" dirty="0"/>
              <a:t>2) IBM </a:t>
            </a:r>
            <a:r>
              <a:rPr lang="en-IN" sz="1200" b="1" dirty="0" err="1"/>
              <a:t>watsonx</a:t>
            </a:r>
            <a:r>
              <a:rPr lang="en-IN" sz="1200" b="1" dirty="0"/>
              <a:t> AI Agent</a:t>
            </a:r>
          </a:p>
          <a:p>
            <a:r>
              <a:rPr lang="en-IN" sz="1200" dirty="0"/>
              <a:t>Processes user inputs using </a:t>
            </a:r>
            <a:r>
              <a:rPr lang="en-IN" sz="1200" b="1" dirty="0"/>
              <a:t>IBM Granite models</a:t>
            </a:r>
            <a:r>
              <a:rPr lang="en-IN" sz="1200" dirty="0"/>
              <a:t> to generate personalized recipes. It </a:t>
            </a:r>
            <a:r>
              <a:rPr lang="en-IN" sz="1200" dirty="0" err="1"/>
              <a:t>analyzes</a:t>
            </a:r>
            <a:r>
              <a:rPr lang="en-IN" sz="1200" dirty="0"/>
              <a:t> cuisine type, dietary preference, cooking time, and available ingredients to create optimized meal suggestions.</a:t>
            </a:r>
          </a:p>
          <a:p>
            <a:br>
              <a:rPr lang="en-IN" sz="1200" dirty="0"/>
            </a:br>
            <a:endParaRPr lang="en-IN" sz="1200" dirty="0"/>
          </a:p>
          <a:p>
            <a:r>
              <a:rPr lang="en-IN" sz="1200" b="1" dirty="0"/>
              <a:t>3) Name of IBM Granite Model</a:t>
            </a:r>
          </a:p>
          <a:p>
            <a:r>
              <a:rPr lang="en-IN" sz="1200" b="1" dirty="0"/>
              <a:t>Granite-13B-Instruct (or Granite-3.x Instruct)</a:t>
            </a:r>
            <a:br>
              <a:rPr lang="en-IN" sz="1200" dirty="0"/>
            </a:br>
            <a:r>
              <a:rPr lang="en-IN" sz="1200" dirty="0"/>
              <a:t>→ Used for generating structured recipes including ingredients, substitutions, and step-by-step cooking instructions in real time.</a:t>
            </a:r>
          </a:p>
          <a:p>
            <a:br>
              <a:rPr lang="en-IN" sz="1200" dirty="0"/>
            </a:br>
            <a:endParaRPr lang="en-IN" sz="1200" dirty="0"/>
          </a:p>
          <a:p>
            <a:endParaRPr lang="en-IN" sz="1200" dirty="0"/>
          </a:p>
        </p:txBody>
      </p:sp>
      <p:sp>
        <p:nvSpPr>
          <p:cNvPr id="3" name="TextBox 2">
            <a:extLst>
              <a:ext uri="{FF2B5EF4-FFF2-40B4-BE49-F238E27FC236}">
                <a16:creationId xmlns:a16="http://schemas.microsoft.com/office/drawing/2014/main" id="{E08D4993-7FFC-2AD8-5F88-659D793B1399}"/>
              </a:ext>
            </a:extLst>
          </p:cNvPr>
          <p:cNvSpPr txBox="1"/>
          <p:nvPr/>
        </p:nvSpPr>
        <p:spPr>
          <a:xfrm>
            <a:off x="6327648" y="1484978"/>
            <a:ext cx="5568696" cy="4401205"/>
          </a:xfrm>
          <a:prstGeom prst="rect">
            <a:avLst/>
          </a:prstGeom>
          <a:noFill/>
        </p:spPr>
        <p:txBody>
          <a:bodyPr wrap="square" rtlCol="0">
            <a:spAutoFit/>
          </a:bodyPr>
          <a:lstStyle/>
          <a:p>
            <a:r>
              <a:rPr lang="en-IN" sz="1000" b="1" dirty="0"/>
              <a:t>4) Chat Output</a:t>
            </a:r>
          </a:p>
          <a:p>
            <a:r>
              <a:rPr lang="en-IN" sz="1000" dirty="0"/>
              <a:t>Displays AI-generated recipe results including:</a:t>
            </a:r>
          </a:p>
          <a:p>
            <a:r>
              <a:rPr lang="en-IN" sz="1000" dirty="0"/>
              <a:t>Recipe name </a:t>
            </a:r>
          </a:p>
          <a:p>
            <a:r>
              <a:rPr lang="en-IN" sz="1000" dirty="0"/>
              <a:t>Required ingredients (based on user input) </a:t>
            </a:r>
          </a:p>
          <a:p>
            <a:r>
              <a:rPr lang="en-IN" sz="1000" dirty="0"/>
              <a:t>Step-by-step cooking instructions </a:t>
            </a:r>
          </a:p>
          <a:p>
            <a:r>
              <a:rPr lang="en-IN" sz="1000" dirty="0"/>
              <a:t>Cooking time and servings </a:t>
            </a:r>
          </a:p>
          <a:p>
            <a:r>
              <a:rPr lang="en-IN" sz="1000" dirty="0"/>
              <a:t>Smart substitutions for missing ingredients </a:t>
            </a:r>
          </a:p>
          <a:p>
            <a:br>
              <a:rPr lang="en-IN" sz="1000" dirty="0"/>
            </a:br>
            <a:endParaRPr lang="en-IN" sz="1000" dirty="0"/>
          </a:p>
          <a:p>
            <a:r>
              <a:rPr lang="en-IN" sz="1000" b="1" dirty="0"/>
              <a:t>5) File Component</a:t>
            </a:r>
          </a:p>
          <a:p>
            <a:r>
              <a:rPr lang="en-IN" sz="1000" dirty="0"/>
              <a:t>Stores and manages:</a:t>
            </a:r>
          </a:p>
          <a:p>
            <a:r>
              <a:rPr lang="en-IN" sz="1000" dirty="0"/>
              <a:t>User input history (ingredients, cuisine, preferences) </a:t>
            </a:r>
          </a:p>
          <a:p>
            <a:r>
              <a:rPr lang="en-IN" sz="1000" dirty="0"/>
              <a:t>Sample recipe dataset for RAG retrieval </a:t>
            </a:r>
          </a:p>
          <a:p>
            <a:r>
              <a:rPr lang="en-IN" sz="1000" dirty="0"/>
              <a:t>Cooking templates and structured recipe formats </a:t>
            </a:r>
          </a:p>
          <a:p>
            <a:br>
              <a:rPr lang="en-IN" sz="1000" dirty="0"/>
            </a:br>
            <a:endParaRPr lang="en-IN" sz="1000" dirty="0"/>
          </a:p>
          <a:p>
            <a:r>
              <a:rPr lang="en-IN" sz="1000" b="1" dirty="0"/>
              <a:t>6) Additional Component Used</a:t>
            </a:r>
          </a:p>
          <a:p>
            <a:r>
              <a:rPr lang="en-IN" sz="1000" b="1" dirty="0"/>
              <a:t>RAG (Retrieval-Augmented Generation) System</a:t>
            </a:r>
            <a:endParaRPr lang="en-IN" sz="1000" dirty="0"/>
          </a:p>
          <a:p>
            <a:r>
              <a:rPr lang="en-IN" sz="1000" dirty="0"/>
              <a:t>Retrieves relevant recipes based on ingredients and cuisine </a:t>
            </a:r>
          </a:p>
          <a:p>
            <a:r>
              <a:rPr lang="en-IN" sz="1000" dirty="0"/>
              <a:t>Enhances output using IBM Granite model </a:t>
            </a:r>
          </a:p>
          <a:p>
            <a:r>
              <a:rPr lang="en-IN" sz="1000" dirty="0"/>
              <a:t>Ensures accurate, contextual, and personalized recipe generation </a:t>
            </a:r>
          </a:p>
          <a:p>
            <a:r>
              <a:rPr lang="en-IN" sz="1000" b="1" dirty="0" err="1"/>
              <a:t>Streamlit</a:t>
            </a:r>
            <a:r>
              <a:rPr lang="en-IN" sz="1000" b="1" dirty="0"/>
              <a:t> UI Component</a:t>
            </a:r>
            <a:endParaRPr lang="en-IN" sz="1000" dirty="0"/>
          </a:p>
          <a:p>
            <a:r>
              <a:rPr lang="en-IN" sz="1000" dirty="0"/>
              <a:t>Provides interactive interface with: </a:t>
            </a:r>
          </a:p>
          <a:p>
            <a:pPr lvl="1"/>
            <a:r>
              <a:rPr lang="en-IN" sz="1000" dirty="0"/>
              <a:t>Cuisine selector </a:t>
            </a:r>
          </a:p>
          <a:p>
            <a:pPr lvl="1"/>
            <a:r>
              <a:rPr lang="en-IN" sz="1000" dirty="0"/>
              <a:t>Diet preference dropdown </a:t>
            </a:r>
          </a:p>
          <a:p>
            <a:pPr lvl="1"/>
            <a:r>
              <a:rPr lang="en-IN" sz="1000" dirty="0"/>
              <a:t>Servings slider </a:t>
            </a:r>
          </a:p>
          <a:p>
            <a:pPr lvl="1"/>
            <a:r>
              <a:rPr lang="en-IN" sz="1000" dirty="0"/>
              <a:t>Cooking time slider </a:t>
            </a:r>
          </a:p>
          <a:p>
            <a:pPr lvl="1"/>
            <a:r>
              <a:rPr lang="en-IN" sz="1000" dirty="0"/>
              <a:t>Ingredient text box</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rcRect/>
          <a:stretch/>
        </p:blipFill>
        <p:spPr>
          <a:xfrm>
            <a:off x="469545" y="1066220"/>
            <a:ext cx="11459443" cy="5544891"/>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l="1451" t="3726" r="2017"/>
          <a:stretch>
            <a:fillRect/>
          </a:stretch>
        </p:blipFill>
        <p:spPr>
          <a:xfrm>
            <a:off x="813817" y="1069848"/>
            <a:ext cx="10067544" cy="5400904"/>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IN" b="1" dirty="0"/>
              <a:t>Role of Agentic AI in Recipe Preparation Agent</a:t>
            </a:r>
            <a:endParaRPr lang="en-IN" dirty="0"/>
          </a:p>
          <a:p>
            <a:r>
              <a:rPr lang="en-IN" b="1" dirty="0"/>
              <a:t>Agentic AI</a:t>
            </a:r>
            <a:r>
              <a:rPr lang="en-IN" dirty="0"/>
              <a:t> enables the Recipe Preparation Agent to function as an intelligent, autonomous system rather than a simple chatbot. Using </a:t>
            </a:r>
            <a:r>
              <a:rPr lang="en-IN" b="1" dirty="0"/>
              <a:t>IBM watsonx.ai</a:t>
            </a:r>
            <a:r>
              <a:rPr lang="en-IN" dirty="0"/>
              <a:t> and </a:t>
            </a:r>
            <a:r>
              <a:rPr lang="en-IN" b="1" dirty="0"/>
              <a:t>IBM Granite models</a:t>
            </a:r>
            <a:r>
              <a:rPr lang="en-IN" dirty="0"/>
              <a:t>, it coordinates multiple specialized agents to deliver personalized culinary guidance. Each agent performs a specific role—such as retrieving recipe data, generating diet plans, providing cooking advice, and </a:t>
            </a:r>
            <a:r>
              <a:rPr lang="en-IN" dirty="0" err="1"/>
              <a:t>analyzing</a:t>
            </a:r>
            <a:r>
              <a:rPr lang="en-IN" dirty="0"/>
              <a:t> ingredient logs—while working collaboratively. This </a:t>
            </a:r>
            <a:r>
              <a:rPr lang="en-IN" b="1" dirty="0"/>
              <a:t>multi-agent approach</a:t>
            </a:r>
            <a:r>
              <a:rPr lang="en-IN" dirty="0"/>
              <a:t> ensures efficient task execution and accurate results. Agentic AI also brings </a:t>
            </a:r>
            <a:r>
              <a:rPr lang="en-IN" b="1" dirty="0"/>
              <a:t>context awareness</a:t>
            </a:r>
            <a:r>
              <a:rPr lang="en-IN" dirty="0"/>
              <a:t>, understanding user details like dietary restrictions, preferred cuisines, and time constraints to generate tailored recommendations. It supports </a:t>
            </a:r>
            <a:r>
              <a:rPr lang="en-IN" b="1" dirty="0"/>
              <a:t>real-time adaptation</a:t>
            </a:r>
            <a:r>
              <a:rPr lang="en-IN" dirty="0"/>
              <a:t>, continuously updating suggestions based on user inputs like available ingredients. Additionally, agents communicate with each other, enabling better decision-making and improved outcomes. Overall, Agentic AI makes the system proactive, personalized, and goal-driven, acting like a </a:t>
            </a:r>
            <a:r>
              <a:rPr lang="en-IN" b="1" dirty="0"/>
              <a:t>smart digital sous-chef</a:t>
            </a:r>
            <a:r>
              <a:rPr lang="en-IN"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862322"/>
          </a:xfrm>
          <a:prstGeom prst="rect">
            <a:avLst/>
          </a:prstGeom>
          <a:noFill/>
        </p:spPr>
        <p:txBody>
          <a:bodyPr wrap="square" rtlCol="0">
            <a:spAutoFit/>
          </a:bodyPr>
          <a:lstStyle/>
          <a:p>
            <a:r>
              <a:rPr lang="en-IN" sz="1800" b="1" dirty="0" err="1"/>
              <a:t>Langflow</a:t>
            </a:r>
            <a:r>
              <a:rPr lang="en-IN" sz="1800" b="1" dirty="0"/>
              <a:t> platform</a:t>
            </a:r>
            <a:r>
              <a:rPr lang="en-IN" sz="1800" dirty="0"/>
              <a:t> - For designing and orchestrating multi-agent workflows visually</a:t>
            </a:r>
          </a:p>
          <a:p>
            <a:r>
              <a:rPr lang="en-IN" sz="1800" b="1" dirty="0"/>
              <a:t>IBM Granite model</a:t>
            </a:r>
            <a:r>
              <a:rPr lang="en-IN" sz="1800" dirty="0"/>
              <a:t> - for </a:t>
            </a:r>
            <a:r>
              <a:rPr lang="en-IN" sz="1800" dirty="0" err="1"/>
              <a:t>eg</a:t>
            </a:r>
            <a:r>
              <a:rPr lang="en-IN" sz="1800" dirty="0"/>
              <a:t> – ibm-granite-3-2-8b – For natural language understanding, reasoning, and personalization</a:t>
            </a:r>
          </a:p>
          <a:p>
            <a:r>
              <a:rPr lang="en-IN" sz="1800" b="1" dirty="0"/>
              <a:t>IBM Cloud</a:t>
            </a:r>
            <a:r>
              <a:rPr lang="en-IN" sz="1800" dirty="0"/>
              <a:t> – It provides the infrastructure to build, deploy, and scale the Recipe Preparation Agent efficiently. IBM Cloud enables a </a:t>
            </a:r>
            <a:r>
              <a:rPr lang="en-IN" sz="1800" b="1" dirty="0"/>
              <a:t>reliable, secure, and scalable environment</a:t>
            </a:r>
            <a:r>
              <a:rPr lang="en-IN" sz="1800" dirty="0"/>
              <a:t> for deploying the Recipe Preparation Agent.</a:t>
            </a:r>
          </a:p>
          <a:p>
            <a:r>
              <a:rPr lang="en-IN" sz="1800" b="1" dirty="0"/>
              <a:t>RAG</a:t>
            </a:r>
            <a:r>
              <a:rPr lang="en-IN" sz="1800" dirty="0"/>
              <a:t> – RAG to </a:t>
            </a:r>
            <a:r>
              <a:rPr lang="en-IN" sz="1800" b="1" dirty="0"/>
              <a:t>fetch real data first, then generate intelligent answers</a:t>
            </a:r>
            <a:r>
              <a:rPr lang="en-IN" sz="1800" dirty="0"/>
              <a:t>, making the Recipe Preparation Agent more trustworthy and effective.</a:t>
            </a:r>
          </a:p>
          <a:p>
            <a:r>
              <a:rPr lang="en-IN" sz="1800" b="1" dirty="0"/>
              <a:t>IBM Watsonx.ai</a:t>
            </a:r>
            <a:r>
              <a:rPr lang="en-IN" sz="1800" dirty="0"/>
              <a:t> - For model deployment, embeddings, and AI governance</a:t>
            </a:r>
          </a:p>
          <a:p>
            <a:r>
              <a:rPr lang="en-IN" sz="1800" b="1" dirty="0"/>
              <a:t>Vector Database</a:t>
            </a:r>
            <a:r>
              <a:rPr lang="en-IN" sz="1800" dirty="0"/>
              <a:t> (FAISS/Chroma) – For RAG-based recipe data retrieval</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539704"/>
          </a:xfrm>
          <a:prstGeom prst="rect">
            <a:avLst/>
          </a:prstGeom>
          <a:noFill/>
        </p:spPr>
        <p:txBody>
          <a:bodyPr wrap="square" rtlCol="0">
            <a:spAutoFit/>
          </a:bodyPr>
          <a:lstStyle/>
          <a:p>
            <a:r>
              <a:rPr lang="en-IN" sz="1700" dirty="0"/>
              <a:t>The proposed Recipe Preparation Agent stands out by combining </a:t>
            </a:r>
            <a:r>
              <a:rPr lang="en-IN" sz="1700" b="1" dirty="0"/>
              <a:t>Agentic AI, RAG, and personalization</a:t>
            </a:r>
            <a:r>
              <a:rPr lang="en-IN" sz="1700" dirty="0"/>
              <a:t> into a single intelligent system.</a:t>
            </a:r>
          </a:p>
          <a:p>
            <a:r>
              <a:rPr lang="en-IN" sz="1700" b="1" dirty="0"/>
              <a:t>Multi-Agent Intelligence</a:t>
            </a:r>
            <a:r>
              <a:rPr lang="en-IN" sz="1700" dirty="0"/>
              <a:t> – Instead of a single chatbot, multiple specialized agents collaborate to deliver accurate and context-aware recipe guidance.</a:t>
            </a:r>
          </a:p>
          <a:p>
            <a:r>
              <a:rPr lang="en-IN" sz="1700" b="1" dirty="0"/>
              <a:t>RAG-Based Accuracy</a:t>
            </a:r>
            <a:r>
              <a:rPr lang="en-IN" sz="1700" dirty="0"/>
              <a:t> – Integrates real-time data retrieval with AI generation, reducing culinary misinformation and ensuring trustworthy recommendations.</a:t>
            </a:r>
          </a:p>
          <a:p>
            <a:r>
              <a:rPr lang="en-IN" sz="1700" b="1" dirty="0"/>
              <a:t>Hyper-Personalization</a:t>
            </a:r>
            <a:r>
              <a:rPr lang="en-IN" sz="1700" dirty="0"/>
              <a:t> – Tailors meal plans based on dietary requirements, cultural preferences, and strict cooking time limits.</a:t>
            </a:r>
          </a:p>
          <a:p>
            <a:r>
              <a:rPr lang="en-IN" sz="1700" b="1" dirty="0"/>
              <a:t>Real-Time Feedback Loop</a:t>
            </a:r>
            <a:r>
              <a:rPr lang="en-IN" sz="1700" dirty="0"/>
              <a:t> – Continuously adapts recommendations based on instantly available pantry ingredients and user </a:t>
            </a:r>
            <a:r>
              <a:rPr lang="en-IN" sz="1700" dirty="0" err="1"/>
              <a:t>behavior</a:t>
            </a:r>
            <a:r>
              <a:rPr lang="en-IN" sz="1700" dirty="0"/>
              <a:t>.</a:t>
            </a:r>
          </a:p>
          <a:p>
            <a:r>
              <a:rPr lang="en-IN" sz="1700" b="1" dirty="0"/>
              <a:t>Multi-Modal Input</a:t>
            </a:r>
            <a:r>
              <a:rPr lang="en-IN" sz="1700" dirty="0"/>
              <a:t> – Supports quick ingredient list selection and dynamic preference inputs for better usability.</a:t>
            </a:r>
          </a:p>
          <a:p>
            <a:r>
              <a:rPr lang="en-IN" sz="1700" b="1" dirty="0"/>
              <a:t>Preventive Healthcare Focus</a:t>
            </a:r>
            <a:r>
              <a:rPr lang="en-IN" sz="1700" dirty="0"/>
              <a:t> – Goes beyond standard meal generation to provide specific ingredient-conscious nutritional advice.</a:t>
            </a:r>
          </a:p>
          <a:p>
            <a:r>
              <a:rPr lang="en-IN" sz="1700" b="1" dirty="0"/>
              <a:t>Scalable &amp; Enterprise-Ready</a:t>
            </a:r>
            <a:r>
              <a:rPr lang="en-IN" sz="1700" dirty="0"/>
              <a:t> – Built on </a:t>
            </a:r>
            <a:r>
              <a:rPr lang="en-IN" sz="1700" b="1" dirty="0"/>
              <a:t>IBM watsonx.ai</a:t>
            </a:r>
            <a:r>
              <a:rPr lang="en-IN" sz="1700" dirty="0"/>
              <a:t> with </a:t>
            </a:r>
            <a:r>
              <a:rPr lang="en-IN" sz="1700" b="1" dirty="0"/>
              <a:t>IBM Granite models</a:t>
            </a:r>
            <a:r>
              <a:rPr lang="en-IN" sz="1700" dirty="0"/>
              <a:t>, ensuring reliability and governance.</a:t>
            </a:r>
          </a:p>
          <a:p>
            <a:r>
              <a:rPr lang="en-IN" sz="1700" dirty="0"/>
              <a:t>This makes the solution a </a:t>
            </a:r>
            <a:r>
              <a:rPr lang="en-IN" sz="1700" b="1" dirty="0"/>
              <a:t>smart, adaptive, and proactive digital sous-chef</a:t>
            </a:r>
            <a:r>
              <a:rPr lang="en-IN" sz="1700" dirty="0"/>
              <a:t>, not just a static diet recommendation tool.</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10055828"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hlinkClick r:id="rId3"/>
              </a:rPr>
              <a:t>– https://github.com/thisisak13/AI-Agent-Recipe-Agent-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buNone/>
            </a:pPr>
            <a:r>
              <a:rPr lang="en-IN" sz="2000" b="1" dirty="0"/>
              <a:t>1. Integration with Smart Devices &amp; Kitchen Assistants</a:t>
            </a:r>
          </a:p>
          <a:p>
            <a:pPr>
              <a:buNone/>
            </a:pPr>
            <a:r>
              <a:rPr lang="en-IN" sz="2000" dirty="0"/>
              <a:t>The system can be integrated with smart kitchen devices, mobile apps, and voice assistants to collect real-time user inputs such as available ingredients, cooking preferences, and pantry inventory. This will enable the Recipe Agent to provide more accurate and instant recipe suggestions based on what is actually available at home, improving convenience and reducing food waste.</a:t>
            </a:r>
          </a:p>
          <a:p>
            <a:pPr>
              <a:buNone/>
            </a:pPr>
            <a:br>
              <a:rPr lang="en-IN" sz="2000" dirty="0"/>
            </a:br>
            <a:endParaRPr lang="en-IN" sz="2000" dirty="0"/>
          </a:p>
          <a:p>
            <a:pPr>
              <a:buNone/>
            </a:pPr>
            <a:r>
              <a:rPr lang="en-IN" sz="2000" b="1" dirty="0"/>
              <a:t>2. AI-Powered Voice Assistant &amp; Multilingual Support</a:t>
            </a:r>
          </a:p>
          <a:p>
            <a:pPr>
              <a:buNone/>
            </a:pPr>
            <a:r>
              <a:rPr lang="en-IN" sz="2000" dirty="0"/>
              <a:t>Enhancing the system with a voice-enabled assistant and multilingual support will improve accessibility for users. Users can interact naturally using voice commands in their preferred language to get recipes, cooking instructions, and substitutions. This makes the solution more inclusive and user-friendly, especially for diverse linguistic regions.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1246</TotalTime>
  <Words>1541</Words>
  <Application>Microsoft Office PowerPoint</Application>
  <PresentationFormat>Widescreen</PresentationFormat>
  <Paragraphs>124</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Farheen Khan</cp:lastModifiedBy>
  <cp:revision>22</cp:revision>
  <cp:lastPrinted>2026-06-05T04:02:40Z</cp:lastPrinted>
  <dcterms:created xsi:type="dcterms:W3CDTF">2025-07-08T05:06:56Z</dcterms:created>
  <dcterms:modified xsi:type="dcterms:W3CDTF">2026-06-05T04:04:40Z</dcterms:modified>
</cp:coreProperties>
</file>